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09" r:id="rId3"/>
    <p:sldId id="411" r:id="rId4"/>
    <p:sldId id="434" r:id="rId5"/>
    <p:sldId id="479" r:id="rId6"/>
    <p:sldId id="459" r:id="rId7"/>
    <p:sldId id="467" r:id="rId8"/>
    <p:sldId id="460" r:id="rId9"/>
    <p:sldId id="468" r:id="rId10"/>
    <p:sldId id="469" r:id="rId11"/>
    <p:sldId id="410" r:id="rId12"/>
    <p:sldId id="438" r:id="rId13"/>
    <p:sldId id="435" r:id="rId14"/>
    <p:sldId id="436" r:id="rId15"/>
    <p:sldId id="437" r:id="rId16"/>
    <p:sldId id="41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52" d="100"/>
          <a:sy n="52" d="100"/>
        </p:scale>
        <p:origin x="140" y="48"/>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3.jpeg"/><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72.xml"/><Relationship Id="rId2" Type="http://schemas.openxmlformats.org/officeDocument/2006/relationships/image" Target="../media/image4.jpeg"/><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3.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en-US" altLang="zh-CN" dirty="0"/>
              <a:t>6-</a:t>
            </a:r>
            <a:r>
              <a:rPr lang="zh-CN" altLang="en-US" dirty="0"/>
              <a:t>沉浸式象棋</a:t>
            </a:r>
            <a:r>
              <a:rPr lang="en-US" altLang="zh-CN" dirty="0"/>
              <a:t>-</a:t>
            </a:r>
            <a:r>
              <a:rPr lang="zh-CN" altLang="en-US" dirty="0"/>
              <a:t>方案最终策划</a:t>
            </a:r>
            <a:endParaRPr lang="en-US" altLang="zh-CN" dirty="0"/>
          </a:p>
        </p:txBody>
      </p:sp>
      <p:sp>
        <p:nvSpPr>
          <p:cNvPr id="3" name="副标题 2"/>
          <p:cNvSpPr>
            <a:spLocks noGrp="1"/>
          </p:cNvSpPr>
          <p:nvPr>
            <p:ph type="subTitle" idx="1"/>
            <p:custDataLst>
              <p:tags r:id="rId2"/>
            </p:custDataLst>
          </p:nvPr>
        </p:nvSpPr>
        <p:spPr/>
        <p:txBody>
          <a:bodyPr/>
          <a:lstStyle/>
          <a:p>
            <a:r>
              <a:rPr lang="zh-CN" altLang="en-US" sz="2000"/>
              <a:t>黄佩瑶、曾清凌、黄芷菁</a:t>
            </a:r>
            <a:endParaRPr lang="zh-CN" altLang="en-US" sz="20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整体方案的设计动机：</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dirty="0"/>
              <a:t>在开始设计时，我们只是有一个想法，在玩象棋时，自己能够身临其境的在棋局里面，把传统游戏变得更生动有趣，于是我们粗糙的想法包括交互的方式、思维导图等，构成了第一版的方案设计。</a:t>
            </a:r>
            <a:endParaRPr lang="zh-CN" altLang="en-US" dirty="0"/>
          </a:p>
          <a:p>
            <a:pPr marL="0" indent="0">
              <a:buNone/>
            </a:pPr>
            <a:r>
              <a:rPr lang="zh-CN" altLang="en-US" dirty="0"/>
              <a:t>然后我们进行了问卷和访谈之类的调查，发现用户的思想很有建设性，之前我们的想法太过单调，缺少趣味性，没有平衡游戏与交互的体验感，描述的整个流程没有突出点，不能满足用户的需求，于是我们对方案进行了二次改版，增加了游戏的模式与调整了参加人数，对于参与者在游戏中</a:t>
            </a:r>
            <a:r>
              <a:rPr dirty="0"/>
              <a:t>显示的场景进行了细化，考虑到参加者和观看者的感受，对场地进行设计和调整，对游戏的描述更加详细，最后我们完成了最终的整体方案。</a:t>
            </a:r>
            <a:endParaRPr dirty="0"/>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596" y="608400"/>
            <a:ext cx="6476211" cy="882000"/>
          </a:xfrm>
        </p:spPr>
        <p:txBody>
          <a:bodyPr/>
          <a:lstStyle/>
          <a:p>
            <a:r>
              <a:rPr lang="en-US" altLang="zh-CN" dirty="0"/>
              <a:t> </a:t>
            </a:r>
            <a:r>
              <a:rPr lang="zh-CN" altLang="en-US" dirty="0"/>
              <a:t>核心用户的分析：</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zh-CN" altLang="en-US" dirty="0"/>
              <a:t>描述经过我们的调研和访谈，可大致分为有如下三种类型用户。</a:t>
            </a:r>
            <a:endParaRPr lang="en-US" altLang="zh-CN" dirty="0"/>
          </a:p>
          <a:p>
            <a:r>
              <a:rPr lang="zh-CN" altLang="en-US" dirty="0"/>
              <a:t>象棋爱好者</a:t>
            </a:r>
            <a:endParaRPr lang="en-US" altLang="zh-CN" dirty="0"/>
          </a:p>
          <a:p>
            <a:pPr marL="0" indent="0">
              <a:buNone/>
            </a:pPr>
            <a:r>
              <a:rPr lang="zh-CN" altLang="en-US" dirty="0"/>
              <a:t>这一类人群不请自来，由于对象棋的喜爱，这个项目对他们有天然的吸引力。他们会强调博弈的快感，倾向于获得胜利，注重比赛结果。此类用户看重队内交流功能，来体验沉浸式象棋大多是想真正下一局象棋，并找到同好交流。</a:t>
            </a:r>
            <a:endParaRPr lang="en-US" altLang="zh-CN" dirty="0"/>
          </a:p>
          <a:p>
            <a:r>
              <a:rPr lang="zh-CN" altLang="en-US" dirty="0"/>
              <a:t>对</a:t>
            </a:r>
            <a:r>
              <a:rPr lang="en-US" altLang="zh-CN" dirty="0"/>
              <a:t>AR</a:t>
            </a:r>
            <a:r>
              <a:rPr lang="zh-CN" altLang="en-US" dirty="0"/>
              <a:t>感兴趣的人群</a:t>
            </a:r>
            <a:endParaRPr lang="en-US" altLang="zh-CN" dirty="0"/>
          </a:p>
          <a:p>
            <a:pPr marL="0" indent="0">
              <a:buNone/>
            </a:pPr>
            <a:r>
              <a:rPr lang="zh-CN" altLang="en-US" dirty="0"/>
              <a:t>多为行业从事者，媒体人，程序员，产品设计师等。他们有点为了寻求创作灵感，或是做竞品分析，也有纯对技术感兴趣的。他们会更加理性的评价这一套游戏系统，全方位考量交互感。仅仅把象棋看作一种游戏种类，他们在意的是整个</a:t>
            </a:r>
            <a:r>
              <a:rPr lang="en-US" altLang="zh-CN" dirty="0"/>
              <a:t>AR</a:t>
            </a:r>
            <a:r>
              <a:rPr lang="zh-CN" altLang="en-US" dirty="0"/>
              <a:t>生态链。</a:t>
            </a:r>
            <a:endParaRPr lang="en-US" altLang="zh-CN" dirty="0"/>
          </a:p>
          <a:p>
            <a:r>
              <a:rPr lang="zh-CN" altLang="en-US" dirty="0"/>
              <a:t>吃瓜群众</a:t>
            </a:r>
            <a:endParaRPr lang="en-US" altLang="zh-CN" dirty="0"/>
          </a:p>
          <a:p>
            <a:pPr marL="0" indent="0">
              <a:buNone/>
            </a:pPr>
            <a:r>
              <a:rPr lang="zh-CN" altLang="en-US" dirty="0"/>
              <a:t>多为带小孩体验新事物的父母，以及有空闲时间与精力的学生。他们很多对</a:t>
            </a:r>
            <a:r>
              <a:rPr lang="en-US" altLang="zh-CN" dirty="0"/>
              <a:t>AR </a:t>
            </a:r>
            <a:r>
              <a:rPr lang="zh-CN" altLang="en-US" dirty="0"/>
              <a:t>沉浸式体验等新鲜事物感到好奇，有富有热情愿意参与。这也是大多数人作为娱乐活动的被选方案</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同理心地图：</a:t>
            </a:r>
            <a:endParaRPr lang="zh-CN" altLang="en-US"/>
          </a:p>
        </p:txBody>
      </p:sp>
      <p:sp>
        <p:nvSpPr>
          <p:cNvPr id="3" name="内容占位符 2"/>
          <p:cNvSpPr>
            <a:spLocks noGrp="1"/>
          </p:cNvSpPr>
          <p:nvPr>
            <p:ph idx="1"/>
          </p:nvPr>
        </p:nvSpPr>
        <p:spPr/>
        <p:txBody>
          <a:bodyPr/>
          <a:p>
            <a:endParaRPr lang="zh-CN" altLang="en-US"/>
          </a:p>
        </p:txBody>
      </p:sp>
      <p:pic>
        <p:nvPicPr>
          <p:cNvPr id="4" name="图片 3" descr="QQ截图20201209115311"/>
          <p:cNvPicPr>
            <a:picLocks noChangeAspect="1"/>
          </p:cNvPicPr>
          <p:nvPr/>
        </p:nvPicPr>
        <p:blipFill>
          <a:blip r:embed="rId1"/>
          <a:stretch>
            <a:fillRect/>
          </a:stretch>
        </p:blipFill>
        <p:spPr>
          <a:xfrm>
            <a:off x="3651250" y="1490345"/>
            <a:ext cx="5593080" cy="48456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技术介绍：</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AR</a:t>
            </a:r>
            <a:r>
              <a:t>技术：</a:t>
            </a:r>
            <a:r>
              <a:t>是把原本在现实世界的一定时间空间范围内很难体验到的实体信息(视觉信息,声音,味道,触觉等)，通过电脑等科学技术，模拟仿真后再叠加，将虚拟的信息应用到真实世界，被人类感官所感知，从而达到超越现实的感官体验，真实的环境和虚拟的物体实时地叠加到了同一个画面或空间同时存在。在视觉化的增强现实中，用户利用头盔显示器，把真实世界与电脑图形多重合成在一起，便可以看到真实的世界围绕着它。增强现实技术包含了多媒体、三维建模、实时视频显示及控制、多传感器融合、实时跟踪及注册、场景融合等新技术与新手段。</a:t>
            </a:r>
          </a:p>
          <a:p>
            <a:pPr marL="0" indent="0">
              <a:buNone/>
            </a:pPr>
          </a:p>
          <a:p>
            <a:pPr marL="0" indent="0">
              <a:buNone/>
            </a:pPr>
            <a:r>
              <a:t>头盔式显示器(Head-mounted displays,简称HMD)被广泛应用于虚拟现实系统中，用以增强用户的视觉沉浸感。</a:t>
            </a:r>
          </a:p>
          <a:p>
            <a:pPr marL="0" indent="0">
              <a:buNone/>
            </a:pPr>
            <a:r>
              <a:t>增强现实技术的研究者们也采用了类似的显示技术，这就是在AR中广泛应用的穿透式HMD。根据具体实现原理又划分为两大类，</a:t>
            </a:r>
          </a:p>
          <a:p>
            <a:pPr marL="0" indent="0">
              <a:buNone/>
            </a:pPr>
            <a:r>
              <a:t>分别是基于光学原理的穿透式HMD(Optical See-through HMD)</a:t>
            </a:r>
          </a:p>
          <a:p>
            <a:pPr marL="0" indent="0">
              <a:buNone/>
            </a:pPr>
            <a:r>
              <a:t>和基于视频合成技术的穿透式HMD(Video See-through HMD)。</a:t>
            </a:r>
          </a:p>
          <a:p>
            <a:pPr marL="0" indent="0">
              <a:buNone/>
            </a:pPr>
            <a:r>
              <a:rPr>
                <a:sym typeface="+mn-ea"/>
              </a:rPr>
              <a:t>光学透视式增强现实系统光学透视式增强现实系统具有简单、分辨率高、</a:t>
            </a:r>
            <a:endParaRPr>
              <a:sym typeface="+mn-ea"/>
            </a:endParaRPr>
          </a:p>
          <a:p>
            <a:pPr marL="0" indent="0">
              <a:buNone/>
            </a:pPr>
            <a:r>
              <a:rPr>
                <a:sym typeface="+mn-ea"/>
              </a:rPr>
              <a:t>没有视觉偏差等优点，但它同时也存在着定位精度要求高、延迟匹配难、</a:t>
            </a:r>
            <a:endParaRPr>
              <a:sym typeface="+mn-ea"/>
            </a:endParaRPr>
          </a:p>
          <a:p>
            <a:pPr marL="0" indent="0">
              <a:buNone/>
            </a:pPr>
            <a:r>
              <a:rPr>
                <a:sym typeface="+mn-ea"/>
              </a:rPr>
              <a:t>视野相对较窄和价格高等不足。</a:t>
            </a:r>
            <a:endParaRPr>
              <a:sym typeface="+mn-ea"/>
            </a:endParaRPr>
          </a:p>
          <a:p>
            <a:pPr marL="0" indent="0">
              <a:buNone/>
            </a:pPr>
            <a:r>
              <a:t>光学透视式增强现实系统实现方案如下图所示：</a:t>
            </a:r>
          </a:p>
          <a:p>
            <a:pPr marL="0" indent="0">
              <a:buNone/>
            </a:pPr>
          </a:p>
          <a:p>
            <a:pPr marL="0" indent="0">
              <a:buNone/>
            </a:pPr>
          </a:p>
        </p:txBody>
      </p:sp>
      <p:pic>
        <p:nvPicPr>
          <p:cNvPr id="4" name="图片 3"/>
          <p:cNvPicPr>
            <a:picLocks noChangeAspect="1"/>
          </p:cNvPicPr>
          <p:nvPr/>
        </p:nvPicPr>
        <p:blipFill>
          <a:blip r:embed="rId1"/>
          <a:stretch>
            <a:fillRect/>
          </a:stretch>
        </p:blipFill>
        <p:spPr>
          <a:xfrm>
            <a:off x="6235700" y="3559810"/>
            <a:ext cx="4572000" cy="2552700"/>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a:sym typeface="+mn-ea"/>
              </a:rPr>
              <a:t>投影仪：LCD投影机的技术是透射式投影技术，最为成熟。LCD投影机的主要成像器件是液晶板。LCD投影机的体积取决于液晶板的大小，液晶板越小，投影机的体积也就越小。LCD投影机的光源是专用大功率灯泡，发光能量远远高于利用荧光发光的CRT投影机，所以LCD投影机的亮度和色彩饱和度都高于CRT投影机。三片式LCD投影机比单片式LCD投影机具有更高的图像质量和更高的亮度。LCD投影机体积较小、重量较轻，制造工艺较简单，亮度和对比度较高，分辨率适中，现今LCD投影机占有的市场份额约占总体市场份额的70%以上，是市场上占有率最高、应用最广泛的投影机。</a:t>
            </a:r>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演示场地介绍：</a:t>
            </a:r>
            <a:endParaRPr lang="zh-CN" altLang="en-US"/>
          </a:p>
        </p:txBody>
      </p:sp>
      <p:pic>
        <p:nvPicPr>
          <p:cNvPr id="5" name="内容占位符 4" descr="活动室"/>
          <p:cNvPicPr>
            <a:picLocks noChangeAspect="1"/>
          </p:cNvPicPr>
          <p:nvPr>
            <p:ph idx="1"/>
            <p:custDataLst>
              <p:tags r:id="rId1"/>
            </p:custDataLst>
          </p:nvPr>
        </p:nvPicPr>
        <p:blipFill>
          <a:blip r:embed="rId2"/>
          <a:stretch>
            <a:fillRect/>
          </a:stretch>
        </p:blipFill>
        <p:spPr>
          <a:xfrm>
            <a:off x="1087755" y="1367155"/>
            <a:ext cx="9730740" cy="4865370"/>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观战室"/>
          <p:cNvPicPr>
            <a:picLocks noChangeAspect="1"/>
          </p:cNvPicPr>
          <p:nvPr>
            <p:custDataLst>
              <p:tags r:id="rId1"/>
            </p:custDataLst>
          </p:nvPr>
        </p:nvPicPr>
        <p:blipFill>
          <a:blip r:embed="rId2"/>
          <a:stretch>
            <a:fillRect/>
          </a:stretch>
        </p:blipFill>
        <p:spPr>
          <a:xfrm>
            <a:off x="1115695" y="1299845"/>
            <a:ext cx="9959975" cy="4980940"/>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象棋1"/>
          <p:cNvPicPr>
            <a:picLocks noChangeAspect="1"/>
          </p:cNvPicPr>
          <p:nvPr/>
        </p:nvPicPr>
        <p:blipFill>
          <a:blip r:embed="rId1"/>
          <a:stretch>
            <a:fillRect/>
          </a:stretch>
        </p:blipFill>
        <p:spPr>
          <a:xfrm>
            <a:off x="974725" y="1266825"/>
            <a:ext cx="9664700" cy="4832350"/>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演示方法描述：</a:t>
            </a:r>
            <a:endParaRPr lang="zh-CN" altLang="en-US" dirty="0"/>
          </a:p>
        </p:txBody>
      </p:sp>
      <p:sp>
        <p:nvSpPr>
          <p:cNvPr id="3" name="内容占位符 2"/>
          <p:cNvSpPr>
            <a:spLocks noGrp="1"/>
          </p:cNvSpPr>
          <p:nvPr>
            <p:ph idx="1"/>
          </p:nvPr>
        </p:nvSpPr>
        <p:spPr/>
        <p:txBody>
          <a:bodyPr>
            <a:normAutofit fontScale="60000"/>
          </a:bodyPr>
          <a:lstStyle/>
          <a:p>
            <a:r>
              <a:rPr lang="zh-CN" altLang="en-US" dirty="0"/>
              <a:t>玩家进入准备室，咨询前台人员，选择参加活动还是观看活动。</a:t>
            </a:r>
            <a:endParaRPr lang="zh-CN" altLang="en-US" dirty="0"/>
          </a:p>
          <a:p>
            <a:endParaRPr lang="zh-CN" altLang="en-US" dirty="0"/>
          </a:p>
          <a:p>
            <a:r>
              <a:rPr lang="zh-CN" altLang="en-US" dirty="0"/>
              <a:t>如果玩家选择参加活动，玩家可将随身携带物品放置储物柜储存，</a:t>
            </a:r>
            <a:r>
              <a:rPr dirty="0"/>
              <a:t>到右侧活动室准备游戏。</a:t>
            </a:r>
            <a:endParaRPr dirty="0"/>
          </a:p>
          <a:p>
            <a:r>
              <a:rPr dirty="0"/>
              <a:t>玩家进入活动室，在三种模式中选择参加的模式，确定后在休息区相应模式位置等待游戏。</a:t>
            </a:r>
            <a:endParaRPr dirty="0"/>
          </a:p>
          <a:p>
            <a:r>
              <a:rPr dirty="0"/>
              <a:t>当上一轮游戏结束，工作人员回收</a:t>
            </a:r>
            <a:r>
              <a:rPr lang="en-US" altLang="zh-CN" dirty="0"/>
              <a:t>AR</a:t>
            </a:r>
            <a:r>
              <a:rPr dirty="0"/>
              <a:t>头盔，按照时间顺序将头盔拿给下一轮游戏玩家，并且确认玩家选择的是什么模式的游戏。</a:t>
            </a:r>
            <a:endParaRPr dirty="0"/>
          </a:p>
          <a:p>
            <a:r>
              <a:rPr lang="zh-CN" altLang="en-US" dirty="0"/>
              <a:t>玩家进行游戏，三种模式：</a:t>
            </a:r>
            <a:r>
              <a:rPr>
                <a:sym typeface="+mn-ea"/>
              </a:rPr>
              <a:t>全明星作战，双人模式，人机模式。</a:t>
            </a:r>
            <a:endParaRPr>
              <a:sym typeface="+mn-ea"/>
            </a:endParaRPr>
          </a:p>
          <a:p>
            <a:pPr marL="0" indent="0">
              <a:buNone/>
            </a:pPr>
            <a:r>
              <a:rPr lang="en-US" altLang="zh-CN" dirty="0"/>
              <a:t>	</a:t>
            </a:r>
            <a:r>
              <a:rPr>
                <a:sym typeface="+mn-ea"/>
              </a:rPr>
              <a:t>在全明星模式下需要</a:t>
            </a:r>
            <a:r>
              <a:rPr lang="en-US" altLang="zh-CN">
                <a:sym typeface="+mn-ea"/>
              </a:rPr>
              <a:t>32</a:t>
            </a:r>
            <a:r>
              <a:rPr>
                <a:sym typeface="+mn-ea"/>
              </a:rPr>
              <a:t>个参与者，每一个扮演一颗棋子。分两组，为团队竞技。</a:t>
            </a:r>
            <a:endParaRPr lang="en-US" altLang="zh-CN" dirty="0"/>
          </a:p>
          <a:p>
            <a:pPr marL="0" indent="0">
              <a:buNone/>
            </a:pPr>
            <a:r>
              <a:rPr lang="en-US" altLang="zh-CN">
                <a:sym typeface="+mn-ea"/>
              </a:rPr>
              <a:t>	</a:t>
            </a:r>
            <a:r>
              <a:rPr>
                <a:sym typeface="+mn-ea"/>
              </a:rPr>
              <a:t>双人模式下双方作为将领，通过操作面板或者语音指挥作战。（全拟态）</a:t>
            </a:r>
            <a:endParaRPr lang="en-US" altLang="zh-CN" dirty="0"/>
          </a:p>
          <a:p>
            <a:pPr marL="0" indent="0">
              <a:buNone/>
            </a:pPr>
            <a:r>
              <a:rPr lang="en-US" altLang="zh-CN">
                <a:sym typeface="+mn-ea"/>
              </a:rPr>
              <a:t>	</a:t>
            </a:r>
            <a:r>
              <a:rPr>
                <a:sym typeface="+mn-ea"/>
              </a:rPr>
              <a:t>人机对战同双人模式，参与者唯一。</a:t>
            </a:r>
            <a:endParaRPr lang="zh-CN" altLang="en-US" dirty="0"/>
          </a:p>
          <a:p>
            <a:r>
              <a:rPr lang="zh-CN" altLang="en-US" dirty="0"/>
              <a:t>游戏结束，玩家选择是继续游戏还是退出，继续游戏则需要玩家重新在休息区排队，退出则从活动室与观战室之间的通道进入观战室，可以选择观战，也可以直接到前台离开。</a:t>
            </a:r>
            <a:endParaRPr lang="zh-CN" altLang="en-US" dirty="0"/>
          </a:p>
          <a:p>
            <a:pPr marL="0" indent="0">
              <a:buNone/>
            </a:pPr>
            <a:endParaRPr lang="zh-CN" altLang="en-US" dirty="0"/>
          </a:p>
          <a:p>
            <a:r>
              <a:rPr lang="zh-CN" altLang="en-US" dirty="0"/>
              <a:t>如果参与者选择观看游戏，则从左侧进入观战室，观战室中战况投影为玩家虚拟形象，有设置座位，在右侧有与活动室连接的单向透视玻璃，观看时可以从这侧观看真实情况，而玩家无法察觉。</a:t>
            </a:r>
            <a:endParaRPr lang="en-US" altLang="zh-CN"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玩家进行全明星游戏：</a:t>
            </a:r>
            <a:endParaRPr lang="en-US" altLang="zh-CN" dirty="0"/>
          </a:p>
        </p:txBody>
      </p:sp>
      <p:sp>
        <p:nvSpPr>
          <p:cNvPr id="3" name="内容占位符 2"/>
          <p:cNvSpPr>
            <a:spLocks noGrp="1"/>
          </p:cNvSpPr>
          <p:nvPr>
            <p:ph idx="1"/>
          </p:nvPr>
        </p:nvSpPr>
        <p:spPr/>
        <p:txBody>
          <a:bodyPr/>
          <a:lstStyle/>
          <a:p>
            <a:r>
              <a:rPr lang="zh-CN" altLang="en-US" dirty="0"/>
              <a:t>游戏前，玩家自行分为两队，选择各自扮演的棋子。</a:t>
            </a:r>
            <a:endParaRPr lang="en-US" altLang="zh-CN" dirty="0"/>
          </a:p>
          <a:p>
            <a:r>
              <a:rPr lang="zh-CN" altLang="en-US" dirty="0"/>
              <a:t>带上</a:t>
            </a:r>
            <a:r>
              <a:rPr lang="en-US" altLang="zh-CN" dirty="0"/>
              <a:t>AR</a:t>
            </a:r>
            <a:r>
              <a:rPr lang="zh-CN" altLang="en-US" dirty="0"/>
              <a:t>眼镜，置身于战场中，您可以看到每个人变成扮演的棋子造型。</a:t>
            </a:r>
            <a:endParaRPr lang="zh-CN" altLang="en-US" dirty="0"/>
          </a:p>
          <a:p>
            <a:r>
              <a:rPr lang="zh-CN" altLang="en-US" dirty="0"/>
              <a:t>在面板上选择开始游戏，并且查看其它功能。</a:t>
            </a:r>
            <a:endParaRPr lang="en-US" altLang="zh-CN" dirty="0"/>
          </a:p>
          <a:p>
            <a:r>
              <a:rPr lang="zh-CN" altLang="en-US" dirty="0"/>
              <a:t>有设置对内聊天室，专门频道，只听队内发言。您可以和队友讨论下一步如何出棋。</a:t>
            </a:r>
            <a:endParaRPr lang="en-US" altLang="zh-CN" dirty="0"/>
          </a:p>
          <a:p>
            <a:r>
              <a:rPr lang="zh-CN" altLang="en-US" dirty="0"/>
              <a:t>被选中出棋的玩家自行走到本队决定的位置，吃掉对方或简单移动。中途会展示华丽的行走特效以及击杀特效</a:t>
            </a:r>
            <a:endParaRPr lang="en-US" altLang="zh-CN" dirty="0"/>
          </a:p>
          <a:p>
            <a:r>
              <a:rPr lang="zh-CN" altLang="en-US" dirty="0"/>
              <a:t>被吃掉的玩家会接收到来自系统的提醒，自动关机出局。</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71500" indent="-571500">
              <a:buFont typeface="Arial" panose="020B0604020202020204" pitchFamily="34" charset="0"/>
              <a:buChar char="•"/>
            </a:pPr>
            <a:r>
              <a:rPr lang="zh-CN" altLang="en-US" dirty="0"/>
              <a:t>带上</a:t>
            </a:r>
            <a:r>
              <a:rPr lang="en-US" altLang="zh-CN" dirty="0"/>
              <a:t>AR</a:t>
            </a:r>
            <a:r>
              <a:rPr lang="zh-CN" altLang="en-US" dirty="0"/>
              <a:t>眼镜，玩家化身为各类棋子</a:t>
            </a:r>
            <a:endParaRPr lang="zh-CN" altLang="en-US" dirty="0"/>
          </a:p>
        </p:txBody>
      </p:sp>
      <p:pic>
        <p:nvPicPr>
          <p:cNvPr id="5" name="内容占位符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795654" y="1490275"/>
            <a:ext cx="7841518" cy="4759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rot="10800000" flipV="1">
            <a:off x="608400" y="847022"/>
            <a:ext cx="960518" cy="5178391"/>
          </a:xfrm>
        </p:spPr>
        <p:txBody>
          <a:bodyPr/>
          <a:lstStyle/>
          <a:p>
            <a:r>
              <a:rPr lang="zh-CN" altLang="en-US" dirty="0"/>
              <a:t>控制面板设计</a:t>
            </a:r>
            <a:endParaRPr lang="zh-CN" altLang="en-US" dirty="0"/>
          </a:p>
        </p:txBody>
      </p:sp>
      <p:pic>
        <p:nvPicPr>
          <p:cNvPr id="5" name="内容占位符 4"/>
          <p:cNvPicPr>
            <a:picLocks noGrp="1" noChangeAspect="1"/>
          </p:cNvPicPr>
          <p:nvPr>
            <p:ph idx="1"/>
          </p:nvPr>
        </p:nvPicPr>
        <p:blipFill rotWithShape="1">
          <a:blip r:embed="rId1">
            <a:extLst>
              <a:ext uri="{28A0092B-C50C-407E-A947-70E740481C1C}">
                <a14:useLocalDpi xmlns:a14="http://schemas.microsoft.com/office/drawing/2010/main" val="0"/>
              </a:ext>
            </a:extLst>
          </a:blip>
          <a:srcRect l="-1752" b="19899"/>
          <a:stretch>
            <a:fillRect/>
          </a:stretch>
        </p:blipFill>
        <p:spPr>
          <a:xfrm>
            <a:off x="1761423" y="608400"/>
            <a:ext cx="10058400" cy="593855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吃掉棋子的动画（草稿演示）</a:t>
            </a:r>
            <a:br>
              <a:rPr lang="en-US" altLang="zh-CN" dirty="0"/>
            </a:b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963007" y="1490275"/>
            <a:ext cx="7200859" cy="475932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后续项目安排：</a:t>
            </a:r>
            <a:endParaRPr lang="zh-CN" altLang="en-US" dirty="0"/>
          </a:p>
        </p:txBody>
      </p:sp>
      <p:sp>
        <p:nvSpPr>
          <p:cNvPr id="3" name="内容占位符 2"/>
          <p:cNvSpPr>
            <a:spLocks noGrp="1"/>
          </p:cNvSpPr>
          <p:nvPr>
            <p:ph idx="1"/>
          </p:nvPr>
        </p:nvSpPr>
        <p:spPr/>
        <p:txBody>
          <a:bodyPr>
            <a:normAutofit lnSpcReduction="10000"/>
          </a:bodyPr>
          <a:lstStyle/>
          <a:p>
            <a:pPr marL="0" indent="0">
              <a:buNone/>
            </a:pPr>
            <a:br>
              <a:rPr lang="zh-CN" altLang="en-US" sz="1800" dirty="0"/>
            </a:br>
            <a:r>
              <a:rPr lang="zh-CN" altLang="en-US" sz="1800" dirty="0"/>
              <a:t>参与</a:t>
            </a:r>
            <a:r>
              <a:rPr lang="zh-CN" altLang="en-US" sz="1800" dirty="0"/>
              <a:t>人员，小组三人</a:t>
            </a:r>
            <a:endParaRPr lang="zh-CN" altLang="en-US" sz="1800" dirty="0"/>
          </a:p>
          <a:p>
            <a:pPr marL="0" indent="0">
              <a:buNone/>
            </a:pPr>
            <a:r>
              <a:rPr lang="zh-CN" altLang="en-US" sz="1800" dirty="0"/>
              <a:t>没有资金，</a:t>
            </a:r>
            <a:endParaRPr lang="zh-CN" altLang="en-US" sz="1800" dirty="0"/>
          </a:p>
          <a:p>
            <a:pPr marL="0" indent="0">
              <a:buNone/>
            </a:pPr>
            <a:r>
              <a:rPr lang="zh-CN" altLang="en-US" sz="1800" dirty="0"/>
              <a:t>计划项目</a:t>
            </a:r>
            <a:endParaRPr lang="zh-CN" altLang="en-US" sz="1800" dirty="0"/>
          </a:p>
          <a:p>
            <a:pPr marL="0" indent="0">
              <a:buNone/>
            </a:pPr>
            <a:r>
              <a:rPr lang="zh-CN" altLang="en-US" sz="1800" dirty="0"/>
              <a:t>找到可以支持这个项目的</a:t>
            </a:r>
            <a:r>
              <a:rPr lang="en-US" altLang="zh-CN" sz="1800" dirty="0"/>
              <a:t>AR</a:t>
            </a:r>
            <a:r>
              <a:rPr sz="1800" dirty="0"/>
              <a:t>头盔商家，投影仪商家</a:t>
            </a:r>
            <a:endParaRPr sz="1800" dirty="0"/>
          </a:p>
          <a:p>
            <a:pPr marL="0" indent="0">
              <a:buNone/>
            </a:pPr>
            <a:r>
              <a:rPr sz="1800" dirty="0"/>
              <a:t>找到场地</a:t>
            </a:r>
            <a:endParaRPr sz="1800" dirty="0"/>
          </a:p>
          <a:p>
            <a:pPr marL="0" indent="0">
              <a:buNone/>
            </a:pPr>
            <a:r>
              <a:rPr sz="1800" dirty="0"/>
              <a:t>游戏开发：程序</a:t>
            </a:r>
            <a:r>
              <a:rPr lang="en-US" altLang="zh-CN" sz="1800" dirty="0"/>
              <a:t>+</a:t>
            </a:r>
            <a:r>
              <a:rPr sz="1800" dirty="0"/>
              <a:t>特效绘制</a:t>
            </a:r>
            <a:endParaRPr sz="1800" dirty="0"/>
          </a:p>
          <a:p>
            <a:pPr marL="0" indent="0">
              <a:buNone/>
            </a:pPr>
            <a:r>
              <a:rPr sz="1800" dirty="0"/>
              <a:t>完成场地建设，装置安装</a:t>
            </a:r>
            <a:endParaRPr sz="1800" dirty="0"/>
          </a:p>
          <a:p>
            <a:pPr marL="0" indent="0">
              <a:buNone/>
            </a:pPr>
            <a:r>
              <a:rPr lang="zh-CN" altLang="en-US" sz="1800" dirty="0"/>
              <a:t>实验者参与实验内测，反馈问题</a:t>
            </a:r>
            <a:endParaRPr lang="zh-CN" altLang="en-US" sz="1800" dirty="0"/>
          </a:p>
          <a:p>
            <a:pPr marL="0" indent="0">
              <a:buNone/>
            </a:pPr>
            <a:r>
              <a:rPr lang="zh-CN" altLang="en-US" sz="1800" dirty="0"/>
              <a:t>多次修改，完成版</a:t>
            </a:r>
            <a:endParaRPr lang="zh-CN" altLang="en-US" sz="1800" dirty="0"/>
          </a:p>
          <a:p>
            <a:pPr marL="0" indent="0">
              <a:buNone/>
            </a:pPr>
            <a:endParaRPr lang="zh-CN" altLang="en-US"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UNIT_PLACING_PICTURE_USER_VIEWPORT" val="{&quot;height&quot;:3375,&quot;width&quot;:6750}"/>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UNIT_PLACING_PICTURE_USER_VIEWPORT" val="{&quot;height&quot;:7005,&quot;width&quot;:14008}"/>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BEAUTIFY_FLAG" val="#wm#"/>
  <p:tag name="KSO_WM_TEMPLATE_CATEGORY" val="custom"/>
  <p:tag name="KSO_WM_TEMPLATE_INDEX" val="20205176"/>
</p:tagLst>
</file>

<file path=ppt/tags/tag74.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2271</Words>
  <Application>WPS 演示</Application>
  <PresentationFormat>宽屏</PresentationFormat>
  <Paragraphs>83</Paragraphs>
  <Slides>15</Slides>
  <Notes>0</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宋体</vt:lpstr>
      <vt:lpstr>Wingdings</vt:lpstr>
      <vt:lpstr>微软雅黑</vt:lpstr>
      <vt:lpstr>Wingdings</vt:lpstr>
      <vt:lpstr>Arial Unicode MS</vt:lpstr>
      <vt:lpstr>Calibri</vt:lpstr>
      <vt:lpstr>Office 主题​​</vt:lpstr>
      <vt:lpstr>6-沉浸式象棋-方案最终策划</vt:lpstr>
      <vt:lpstr>整体方案的设计动机：</vt:lpstr>
      <vt:lpstr> 核心用户的分析：</vt:lpstr>
      <vt:lpstr>PowerPoint 演示文稿</vt:lpstr>
      <vt:lpstr>技术介绍：</vt:lpstr>
      <vt:lpstr>PowerPoint 演示文稿</vt:lpstr>
      <vt:lpstr>演示场地介绍：</vt:lpstr>
      <vt:lpstr>PowerPoint 演示文稿</vt:lpstr>
      <vt:lpstr>PowerPoint 演示文稿</vt:lpstr>
      <vt:lpstr>演示方法描述：</vt:lpstr>
      <vt:lpstr>全明星模式介绍</vt:lpstr>
      <vt:lpstr>带上AR眼镜，玩家化身为各类棋子</vt:lpstr>
      <vt:lpstr>控制面板设计</vt:lpstr>
      <vt:lpstr>吃掉棋子的动画（草稿演示） </vt:lpstr>
      <vt:lpstr>后续项目安排：</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6-象棋VR</dc:title>
  <dc:creator>IM</dc:creator>
  <cp:lastModifiedBy>子衿</cp:lastModifiedBy>
  <cp:revision>212</cp:revision>
  <dcterms:created xsi:type="dcterms:W3CDTF">2019-06-19T02:08:00Z</dcterms:created>
  <dcterms:modified xsi:type="dcterms:W3CDTF">2020-12-09T03:56:25Z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